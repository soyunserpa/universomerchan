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26280" cy="6858000"/>
          </a:xfrm>
          <a:prstGeom prst="roundRect">
            <a:avLst/>
          </a:prstGeom>
          <a:solidFill>
            <a:srgbClr val="1F293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08760"/>
            <a:ext cx="3291840" cy="32918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63500" dir="8100000">
              <a:srgbClr val="000000">
                <a:alpha val="45000"/>
              </a:srgbClr>
            </a:outerShdw>
          </a:effectLst>
        </p:spPr>
      </p:sp>
      <p:pic>
        <p:nvPicPr>
          <p:cNvPr id="4" name="Image 0" descr="/tmp/imgs/kit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301752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074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1A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#GeneraEmociones</a:t>
            </a:r>
            <a:endParaRPr lang="en-US" sz="1300" dirty="0"/>
          </a:p>
        </p:txBody>
      </p:sp>
      <p:pic>
        <p:nvPicPr>
          <p:cNvPr id="6" name="Image 1" descr="/tmp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640080"/>
            <a:ext cx="2103120" cy="7223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937760" y="178308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DE0021"/>
          </a:solidFill>
          <a:ln/>
        </p:spPr>
      </p:sp>
      <p:sp>
        <p:nvSpPr>
          <p:cNvPr id="8" name="Text 4"/>
          <p:cNvSpPr/>
          <p:nvPr/>
        </p:nvSpPr>
        <p:spPr>
          <a:xfrm>
            <a:off x="4937760" y="1783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PROPUESTA COMERCIAL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892040" y="233172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Welcome Kit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Evento anual · Noviembre</a:t>
            </a:r>
            <a:endParaRPr lang="en-US" sz="3800" dirty="0"/>
          </a:p>
        </p:txBody>
      </p:sp>
      <p:sp>
        <p:nvSpPr>
          <p:cNvPr id="10" name="Text 6"/>
          <p:cNvSpPr/>
          <p:nvPr/>
        </p:nvSpPr>
        <p:spPr>
          <a:xfrm>
            <a:off x="4937760" y="41605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D1D5D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100 fundas de portátil 16/17" + 100 libretas A5 · todo en negro · logo a 2 caras y bajo relieve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FF1A3D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Entrega en Madrid antes del evento (inicios de noviembre)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937760" y="521208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DE0021"/>
          </a:solidFill>
          <a:ln/>
        </p:spPr>
      </p:sp>
      <p:sp>
        <p:nvSpPr>
          <p:cNvPr id="12" name="Text 8"/>
          <p:cNvSpPr/>
          <p:nvPr/>
        </p:nvSpPr>
        <p:spPr>
          <a:xfrm>
            <a:off x="4937760" y="52120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Elige · Personaliza · Recibe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937760" y="5989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pedidos@universomerchan.com   ·   universomerchan.com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KIT EN UN VISTAZO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Dos piezas, un mismo lenguaje: negro, sobrio y con el logo presente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3794760"/>
          </a:xfrm>
          <a:prstGeom prst="roundRect">
            <a:avLst>
              <a:gd name="adj" fmla="val 385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 fundas de portátil 16/17"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pedís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9260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Negras, logo a ambas caras y etiqueta con el logo reducido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Exterior de poliéster resistente al agua, espuma 8 mm y forro aterciopelado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proponemos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480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Opción A · a medida con Grupo Xscape: idéntica a vuestra referencia, en 16/17" (recomendada)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Opción B · COTIN en stock: algodón 220 g/m², sólo hasta 15"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440680" cy="3794760"/>
          </a:xfrm>
          <a:prstGeom prst="roundRect">
            <a:avLst>
              <a:gd name="adj" fmla="val 3855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 libretas A5 (14 × 21 cm)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pedís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0" y="2926080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Tapa dura en polipiel o similar, negra, con logo en bajo relieve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Interior rayado; si las hojas pueden llevar el logo, ideal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9224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 que proponemos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92240" y="44805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Opciones A–C · en stock (PU, PU con bolsillo, cuero reciclado): bajo relieve en portada, entrega &lt; 10 días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Opción D · a medida con Grupo Xscape: bajo relieve a 2 caras y logo impreso en cada hoja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Todos los artículos en negro · logo en bajo relieve o tono sobre tono para un acabado elegante · boceto digital en 24–48 h</a:t>
            </a:r>
            <a:endParaRPr lang="en-US" sz="1100" dirty="0"/>
          </a:p>
        </p:txBody>
      </p:sp>
      <p:pic>
        <p:nvPicPr>
          <p:cNvPr id="18" name="Image 0" descr="/tmp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1371600" cy="47091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4160520" cy="457200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" name="Image 0" descr="/tmp/imgs/ref_sq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3337560" cy="3337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663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Imagen de referencia facilitada por el cliente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960120" y="4956048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DE0021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49560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FUNDA · OPCIÓN A · RECOMENDADA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60120" y="5394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 Xscape · fabricación a medida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74920" y="64008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9" name="Text 6"/>
          <p:cNvSpPr/>
          <p:nvPr/>
        </p:nvSpPr>
        <p:spPr>
          <a:xfrm>
            <a:off x="5074920" y="6400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EFECTO WOW · 16/17"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0" y="10972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Funda premium 16/17" a medida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5074920" y="187452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La referencia que nos habéis pasado, en vuestra versión: negro total, logo a las dos caras y etiqueta con el logo reducido. Fabricada con nuestro partner Grupo Xscape.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74920" y="26060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0920" y="26060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Poliéster resistente al agua · espuma 8 mm · forro aterciopelado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74920" y="30175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30632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Medidas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60920" y="30632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Portátiles de 16/17" (aprox. 42 × 30 cm) · bolsillo frontal con cremallera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74920" y="34747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4920" y="35204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Colores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60920" y="3643884"/>
            <a:ext cx="155448" cy="155448"/>
          </a:xfrm>
          <a:prstGeom prst="ellipse">
            <a:avLst/>
          </a:prstGeom>
          <a:solidFill>
            <a:srgbClr val="111111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18781" y="3520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Negro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74920" y="39319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74920" y="39776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Detalle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60920" y="39776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Etiqueta tejida / PU con el logo reducido · cremalleras a tono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74920" y="43891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74920" y="44348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Marcaje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360920" y="44348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Logo a 2 caras (serigrafía o transfer) · tono sobre tono o blanco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74920" y="48463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74920" y="5093208"/>
            <a:ext cx="6720840" cy="109728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5875">
            <a:solidFill>
              <a:srgbClr val="DE002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49240" y="523951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14,90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€/ud</a:t>
            </a:r>
            <a:endParaRPr lang="en-US" sz="3000" dirty="0"/>
          </a:p>
        </p:txBody>
      </p:sp>
      <p:sp>
        <p:nvSpPr>
          <p:cNvPr id="30" name="Shape 27"/>
          <p:cNvSpPr/>
          <p:nvPr/>
        </p:nvSpPr>
        <p:spPr>
          <a:xfrm>
            <a:off x="8275320" y="5312664"/>
            <a:ext cx="0" cy="658368"/>
          </a:xfrm>
          <a:prstGeom prst="line">
            <a:avLst/>
          </a:prstGeom>
          <a:noFill/>
          <a:ln w="12700">
            <a:solidFill>
              <a:srgbClr val="DE002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49640" y="52395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100 uds</a:t>
            </a:r>
            <a:endParaRPr lang="en-US" sz="1150" dirty="0"/>
          </a:p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1.490  €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074920" y="628192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Precio orientativo · marcaje incluido · IVA no incluido · se confirma con arte final y muestra</a:t>
            </a:r>
            <a:endParaRPr lang="en-US" sz="1000" dirty="0"/>
          </a:p>
        </p:txBody>
      </p:sp>
      <p:pic>
        <p:nvPicPr>
          <p:cNvPr id="33" name="Image 1" descr="/tmp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371600" cy="47091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4160520" cy="457200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" name="Image 0" descr="/tmp/imgs/cotin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3337560" cy="3337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663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Imagen ilustrativa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960120" y="4956048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49560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FUNDA · OPCIÓN B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60120" y="5394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Ref. MO2191 · COTIN · universomerchan.com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74920" y="64008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9" name="Text 6"/>
          <p:cNvSpPr/>
          <p:nvPr/>
        </p:nvSpPr>
        <p:spPr>
          <a:xfrm>
            <a:off x="5074920" y="6400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 EUROPEO · &lt; 10 DÍAS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0" y="10972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COTIN · Funda 15" algodón 220 g/m²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5074920" y="187452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Alternativa en stock, sin mínimos de fabricación y entrega en menos de 10 días. Atención: es para portátiles de hasta 15" (39,5 × 27 cm).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74920" y="26060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0920" y="26060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Algodón acolchado 220 g/m² · forro interior 120 g/m²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74920" y="30175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30632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Medidas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60920" y="30632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39,5 × 27 cm · portátiles hasta 15"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74920" y="34747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4920" y="35204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Colores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60920" y="3643884"/>
            <a:ext cx="155448" cy="155448"/>
          </a:xfrm>
          <a:prstGeom prst="ellipse">
            <a:avLst/>
          </a:prstGeom>
          <a:solidFill>
            <a:srgbClr val="111111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18781" y="3520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Negro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74920" y="39319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74920" y="39776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Detalle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60920" y="39776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Cierre con botón de bambú · acabado natural y elegante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74920" y="43891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74920" y="44348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Marcaje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360920" y="44348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Logo a 1 tinta · serigrafía · 2 caras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74920" y="48463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74920" y="5093208"/>
            <a:ext cx="6720840" cy="109728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49240" y="523951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9,00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€/ud</a:t>
            </a:r>
            <a:endParaRPr lang="en-US" sz="3000" dirty="0"/>
          </a:p>
        </p:txBody>
      </p:sp>
      <p:sp>
        <p:nvSpPr>
          <p:cNvPr id="30" name="Shape 27"/>
          <p:cNvSpPr/>
          <p:nvPr/>
        </p:nvSpPr>
        <p:spPr>
          <a:xfrm>
            <a:off x="8275320" y="5312664"/>
            <a:ext cx="0" cy="658368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49640" y="52395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100 uds</a:t>
            </a:r>
            <a:endParaRPr lang="en-US" sz="1150" dirty="0"/>
          </a:p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900  €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074920" y="628192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Precio orientativo · marcaje incluido · IVA no incluido · se confirma con arte final y muestra</a:t>
            </a:r>
            <a:endParaRPr lang="en-US" sz="1000" dirty="0"/>
          </a:p>
        </p:txBody>
      </p:sp>
      <p:pic>
        <p:nvPicPr>
          <p:cNvPr id="33" name="Image 1" descr="/tmp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371600" cy="47091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4160520" cy="457200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" name="Image 0" descr="/tmp/imgs/arconot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3337560" cy="3337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663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Imagen ilustrativa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960120" y="4956048"/>
            <a:ext cx="3246120" cy="384048"/>
          </a:xfrm>
          <a:prstGeom prst="roundRect">
            <a:avLst>
              <a:gd name="adj" fmla="val 50000"/>
            </a:avLst>
          </a:prstGeom>
          <a:solidFill>
            <a:srgbClr val="DE0021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49560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LIBRETA · OPCIÓN A · RECOMENDADA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60120" y="5394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Ref. MO1804 · ARCONOT · universomerchan.com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74920" y="64008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9" name="Text 6"/>
          <p:cNvSpPr/>
          <p:nvPr/>
        </p:nvSpPr>
        <p:spPr>
          <a:xfrm>
            <a:off x="5074920" y="64008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MEJOR RELACIÓN CALIDAD-PRECIO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0" y="10972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ARCONOT · Libreta A5 PU tapa rígida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5074920" y="187452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Tacto suave, negro total y logo en bajo relieve. La libreta corporativa por excelencia, en stock y con entrega en menos de 10 días.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74920" y="26060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0920" y="26060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Tapa rígida PU soft-touch · encuadernación cartoné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74920" y="30175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30632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60920" y="30632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A5 · 21 × 14 × 1,6 cm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74920" y="34747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4920" y="35204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Colores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60920" y="3643884"/>
            <a:ext cx="155448" cy="155448"/>
          </a:xfrm>
          <a:prstGeom prst="ellipse">
            <a:avLst/>
          </a:prstGeom>
          <a:solidFill>
            <a:srgbClr val="111111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18781" y="3520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Negro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74920" y="39319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74920" y="39776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Interior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60920" y="39776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96 hojas (192 pág.) rayadas · papel reciclado · goma y cinta marcapáginas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74920" y="43891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74920" y="44348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Marcaje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360920" y="44348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Logo en bajo relieve (grabado en seco) en portada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74920" y="48463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74920" y="5093208"/>
            <a:ext cx="6720840" cy="109728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5875">
            <a:solidFill>
              <a:srgbClr val="DE002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49240" y="523951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3,95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€/ud</a:t>
            </a:r>
            <a:endParaRPr lang="en-US" sz="3000" dirty="0"/>
          </a:p>
        </p:txBody>
      </p:sp>
      <p:sp>
        <p:nvSpPr>
          <p:cNvPr id="30" name="Shape 27"/>
          <p:cNvSpPr/>
          <p:nvPr/>
        </p:nvSpPr>
        <p:spPr>
          <a:xfrm>
            <a:off x="8275320" y="5312664"/>
            <a:ext cx="0" cy="658368"/>
          </a:xfrm>
          <a:prstGeom prst="line">
            <a:avLst/>
          </a:prstGeom>
          <a:noFill/>
          <a:ln w="12700">
            <a:solidFill>
              <a:srgbClr val="DE002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49640" y="52395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100 uds</a:t>
            </a:r>
            <a:endParaRPr lang="en-US" sz="1150" dirty="0"/>
          </a:p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395  €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074920" y="628192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Precio orientativo · marcaje incluido · IVA no incluido · se confirma con arte final y muestra</a:t>
            </a:r>
            <a:endParaRPr lang="en-US" sz="1000" dirty="0"/>
          </a:p>
        </p:txBody>
      </p:sp>
      <p:pic>
        <p:nvPicPr>
          <p:cNvPr id="33" name="Image 1" descr="/tmp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371600" cy="47091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4160520" cy="457200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" name="Image 0" descr="/tmp/imgs/cinco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3337560" cy="3337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663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Imagen ilustrativa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960120" y="4956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49560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LIBRETA · OPCIÓN B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60120" y="5394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Ref. MO2285 · CINCO · universomerchan.com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74920" y="640080"/>
            <a:ext cx="2697480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9" name="Text 6"/>
          <p:cNvSpPr/>
          <p:nvPr/>
        </p:nvSpPr>
        <p:spPr>
          <a:xfrm>
            <a:off x="5074920" y="64008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BOLSILLO PARA EL MÓVIL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0" y="10972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CINCO · Libreta A5 PU con bolsillo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5074920" y="187452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Tapa dura de PU con bolsillo frontal para el teléfono: un detalle práctico que se nota en el día a día.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74920" y="26060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0920" y="26060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Tapa dura PU · bolsillo frontal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74920" y="30175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30632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60920" y="30632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A5 · 21 × 14 cm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74920" y="34747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4920" y="35204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Colores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60920" y="3643884"/>
            <a:ext cx="155448" cy="155448"/>
          </a:xfrm>
          <a:prstGeom prst="ellipse">
            <a:avLst/>
          </a:prstGeom>
          <a:solidFill>
            <a:srgbClr val="111111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18781" y="3520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Negro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74920" y="39319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74920" y="39776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Interior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60920" y="39776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80 hojas (160 pág.) rayadas · papel reciclado · cinta marcapáginas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74920" y="43891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74920" y="44348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Marcaje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360920" y="44348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Logo en bajo relieve (grabado en seco) en portada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74920" y="48463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74920" y="5093208"/>
            <a:ext cx="6720840" cy="109728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49240" y="523951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4,60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€/ud</a:t>
            </a:r>
            <a:endParaRPr lang="en-US" sz="3000" dirty="0"/>
          </a:p>
        </p:txBody>
      </p:sp>
      <p:sp>
        <p:nvSpPr>
          <p:cNvPr id="30" name="Shape 27"/>
          <p:cNvSpPr/>
          <p:nvPr/>
        </p:nvSpPr>
        <p:spPr>
          <a:xfrm>
            <a:off x="8275320" y="5312664"/>
            <a:ext cx="0" cy="658368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49640" y="52395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100 uds</a:t>
            </a:r>
            <a:endParaRPr lang="en-US" sz="1150" dirty="0"/>
          </a:p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460  €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074920" y="628192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Precio orientativo · marcaje incluido · IVA no incluido · se confirma con arte final y muestra</a:t>
            </a:r>
            <a:endParaRPr lang="en-US" sz="1000" dirty="0"/>
          </a:p>
        </p:txBody>
      </p:sp>
      <p:pic>
        <p:nvPicPr>
          <p:cNvPr id="33" name="Image 1" descr="/tmp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371600" cy="47091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4160520" cy="457200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" name="Image 0" descr="/tmp/imgs/mo6835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3337560" cy="3337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663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Imagen ilustrativa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960120" y="4956048"/>
            <a:ext cx="1965960" cy="38404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49560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LIBRETA · OPCIÓN C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60120" y="5394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Ref. MO6835 · universomerchan.com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74920" y="64008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9" name="Text 6"/>
          <p:cNvSpPr/>
          <p:nvPr/>
        </p:nvSpPr>
        <p:spPr>
          <a:xfrm>
            <a:off x="5074920" y="6400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CUERO RECICLADO · SELECCIÓN ECO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0" y="10972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Libreta A5 cuero reciclado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5074920" y="187452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Tapa de cuero reciclado: tacto premium, mensaje sostenible y bajo relieve muy limpio.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74920" y="26060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0920" y="26060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70 % cuero reciclado pre-consumo · 30 % PU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74920" y="30175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30632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60920" y="30632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A5 · 21 × 14 cm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74920" y="34747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4920" y="35204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Colores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60920" y="3643884"/>
            <a:ext cx="155448" cy="155448"/>
          </a:xfrm>
          <a:prstGeom prst="ellipse">
            <a:avLst/>
          </a:prstGeom>
          <a:solidFill>
            <a:srgbClr val="111111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18781" y="3520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Negro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74920" y="39319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74920" y="39776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Interior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60920" y="39776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96 hojas (192 pág.) rayadas · papel reciclado · goma de algodón y portabolígrafos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74920" y="43891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74920" y="44348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Marcaje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360920" y="44348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Logo en bajo relieve (grabado en seco) en portada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74920" y="48463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74920" y="5093208"/>
            <a:ext cx="6720840" cy="109728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49240" y="523951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5,15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€/ud</a:t>
            </a:r>
            <a:endParaRPr lang="en-US" sz="3000" dirty="0"/>
          </a:p>
        </p:txBody>
      </p:sp>
      <p:sp>
        <p:nvSpPr>
          <p:cNvPr id="30" name="Shape 27"/>
          <p:cNvSpPr/>
          <p:nvPr/>
        </p:nvSpPr>
        <p:spPr>
          <a:xfrm>
            <a:off x="8275320" y="5312664"/>
            <a:ext cx="0" cy="658368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49640" y="52395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100 uds</a:t>
            </a:r>
            <a:endParaRPr lang="en-US" sz="1150" dirty="0"/>
          </a:p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515  €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074920" y="628192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Precio orientativo · marcaje incluido · IVA no incluido · se confirma con arte final y muestra</a:t>
            </a:r>
            <a:endParaRPr lang="en-US" sz="1000" dirty="0"/>
          </a:p>
        </p:txBody>
      </p:sp>
      <p:pic>
        <p:nvPicPr>
          <p:cNvPr id="33" name="Image 1" descr="/tmp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371600" cy="47091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43000"/>
            <a:ext cx="4160520" cy="457200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" name="Image 0" descr="/tmp/imgs/xs_note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25880"/>
            <a:ext cx="3337560" cy="3337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4663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Imagen ilustrativa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960120" y="4956048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DE0021"/>
          </a:solidFill>
          <a:ln/>
        </p:spPr>
      </p:sp>
      <p:sp>
        <p:nvSpPr>
          <p:cNvPr id="6" name="Text 3"/>
          <p:cNvSpPr/>
          <p:nvPr/>
        </p:nvSpPr>
        <p:spPr>
          <a:xfrm>
            <a:off x="960120" y="4956048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LIBRETA · OPCIÓN D · EFECTO WOW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960120" y="53949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 Xscape · fabricación a medida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74920" y="640080"/>
            <a:ext cx="2514600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9" name="Text 6"/>
          <p:cNvSpPr/>
          <p:nvPr/>
        </p:nvSpPr>
        <p:spPr>
          <a:xfrm>
            <a:off x="5074920" y="64008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HOJAS CON VUESTRO LOGO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29200" y="109728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Libreta A5 a medida · polipiel negra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5074920" y="1874520"/>
            <a:ext cx="6720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Exactamente lo que pedís: tapa dura en polipiel negra con logo bajo relieve en portada y contraportada, e interior rayado con el logo impreso en cada hoja.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074920" y="26060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Material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360920" y="26060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Tapa dura polipiel negra (cartón 2 mm forrado) · guardas personalizadas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74920" y="30175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4920" y="30632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Formato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60920" y="30632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A5 · 14 × 21 cm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74920" y="34747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74920" y="35204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Colores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60920" y="3643884"/>
            <a:ext cx="155448" cy="155448"/>
          </a:xfrm>
          <a:prstGeom prst="ellipse">
            <a:avLst/>
          </a:prstGeom>
          <a:solidFill>
            <a:srgbClr val="111111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18781" y="3520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Negro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74920" y="39319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74920" y="39776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Interior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60920" y="39776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80–96 hojas rayadas con logo impreso a 1 tinta · goma, cinta y bolsillo interior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074920" y="43891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74920" y="443484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Marcaje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360920" y="443484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Logo en bajo relieve en portada y contraportada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074920" y="4846320"/>
            <a:ext cx="67208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74920" y="5093208"/>
            <a:ext cx="6720840" cy="109728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49240" y="523951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8,90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€/ud</a:t>
            </a:r>
            <a:endParaRPr lang="en-US" sz="3000" dirty="0"/>
          </a:p>
        </p:txBody>
      </p:sp>
      <p:sp>
        <p:nvSpPr>
          <p:cNvPr id="30" name="Shape 27"/>
          <p:cNvSpPr/>
          <p:nvPr/>
        </p:nvSpPr>
        <p:spPr>
          <a:xfrm>
            <a:off x="8275320" y="5312664"/>
            <a:ext cx="0" cy="658368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49640" y="52395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100 uds</a:t>
            </a:r>
            <a:endParaRPr lang="en-US" sz="1150" dirty="0"/>
          </a:p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890  €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074920" y="628192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Precio orientativo · marcaje incluido · IVA no incluido · se confirma con arte final y muestra</a:t>
            </a:r>
            <a:endParaRPr lang="en-US" sz="1000" dirty="0"/>
          </a:p>
        </p:txBody>
      </p:sp>
      <p:pic>
        <p:nvPicPr>
          <p:cNvPr id="33" name="Image 1" descr="/tmp/logo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55080"/>
            <a:ext cx="1371600" cy="47091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240280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RESUMEN ECONÓMICO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Tres formas de montar el kit (100 unidades)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66160" cy="3931920"/>
          </a:xfrm>
          <a:prstGeom prst="roundRect">
            <a:avLst>
              <a:gd name="adj" fmla="val 4103"/>
            </a:avLst>
          </a:prstGeom>
          <a:solidFill>
            <a:srgbClr val="FEE2E2"/>
          </a:solidFill>
          <a:ln w="15875">
            <a:solidFill>
              <a:srgbClr val="DE0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DE002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MÁXIMO EFECTO WOW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Kit Wow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Funda premium 16/17" a medida · Xscape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54680" y="3200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14,90 €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3063240" cy="0"/>
          </a:xfrm>
          <a:prstGeom prst="line">
            <a:avLst/>
          </a:prstGeom>
          <a:noFill/>
          <a:ln w="9525">
            <a:solidFill>
              <a:srgbClr val="F5B5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886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Libreta A5 a medida · hojas con logo · Xscape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54680" y="3886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8,90 €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4480560"/>
            <a:ext cx="3063240" cy="0"/>
          </a:xfrm>
          <a:prstGeom prst="line">
            <a:avLst/>
          </a:prstGeom>
          <a:noFill/>
          <a:ln w="9525">
            <a:solidFill>
              <a:srgbClr val="F5B5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663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23,80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€/kit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" y="5212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100 kits  </a:t>
            </a:r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2.380 €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1874520"/>
            <a:ext cx="3566160" cy="3931920"/>
          </a:xfrm>
          <a:prstGeom prst="roundRect">
            <a:avLst>
              <a:gd name="adj" fmla="val 410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1031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2103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WOW + STOCK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Kit Equilibrado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Funda premium 16/17" a medida · Xscape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03720" y="3200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14,90 €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0" y="3794760"/>
            <a:ext cx="3063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886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ARCONOT A5 PU · bajo relieve · MO1804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03720" y="3886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3,95 €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4480560"/>
            <a:ext cx="3063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663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18,85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€/kit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572000" y="5212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100 kits  </a:t>
            </a:r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1.885 €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46720" y="1874520"/>
            <a:ext cx="3566160" cy="3931920"/>
          </a:xfrm>
          <a:prstGeom prst="roundRect">
            <a:avLst>
              <a:gd name="adj" fmla="val 410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1040" y="21031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21031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TODO EN STOCK · &lt; 10 DÍAS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Kit Smart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321040" y="3200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COTIN 15" algodón · MO2191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652760" y="3200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9,00 €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321040" y="3794760"/>
            <a:ext cx="3063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3886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11827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ARCONOT A5 PU · bajo relieve · MO1804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652760" y="38862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3,95 €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321040" y="4480560"/>
            <a:ext cx="3063240" cy="0"/>
          </a:xfrm>
          <a:prstGeom prst="line">
            <a:avLst/>
          </a:prstGeom>
          <a:noFill/>
          <a:ln w="9525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4663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12,95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€/kit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8321040" y="5212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100 kits  </a:t>
            </a:r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1.295 €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Precios orientativos por unidad con marcaje incluido · IVA no incluido · se confirman con el arte final del logo y la muestra física</a:t>
            </a:r>
            <a:endParaRPr lang="en-US" sz="1050" dirty="0"/>
          </a:p>
        </p:txBody>
      </p:sp>
      <p:pic>
        <p:nvPicPr>
          <p:cNvPr id="42" name="Image 0" descr="/tmp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1371600" cy="470916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057400" cy="38404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DE002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PLAZOS Y PROCESO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Llegamos a inicios de noviembre si cerramos en septiembre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329184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DE002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Elección y arte final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Elegís opciones y nos pasáis el logo en vector. Boceto digital en 24–48 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DE002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617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HASTA EL 26 SEPT.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1920240"/>
            <a:ext cx="2651760" cy="329184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0" y="2194560"/>
            <a:ext cx="457200" cy="457200"/>
          </a:xfrm>
          <a:prstGeom prst="ellipse">
            <a:avLst/>
          </a:prstGeom>
          <a:solidFill>
            <a:srgbClr val="DE0021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Muestra física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57600" y="32918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Para las piezas a medida (Xscape) fabricamos una muestra pre-producción para vuestro OK.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4617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DE0021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0" y="4617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7–10 DÍAS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1920240"/>
            <a:ext cx="2651760" cy="329184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194560"/>
            <a:ext cx="457200" cy="457200"/>
          </a:xfrm>
          <a:prstGeom prst="ellipse">
            <a:avLst/>
          </a:prstGeom>
          <a:solidFill>
            <a:srgbClr val="DE002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Producción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32918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medida: 4–5 semanas. Stock Universo Merchan: 7–10 días laborables con marcaje.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4617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DE0021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4617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OCTUBRE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052560" y="1920240"/>
            <a:ext cx="2651760" cy="3291840"/>
          </a:xfrm>
          <a:prstGeom prst="roundRect">
            <a:avLst>
              <a:gd name="adj" fmla="val 551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0" y="2194560"/>
            <a:ext cx="457200" cy="457200"/>
          </a:xfrm>
          <a:prstGeom prst="ellipse">
            <a:avLst/>
          </a:prstGeom>
          <a:solidFill>
            <a:srgbClr val="DE0021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8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Entrega en Madrid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9326880" y="329184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Transporte 24–48 h. Kits listos la última semana de octubre, con margen para el evento.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326880" y="4617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DE0021"/>
          </a:solidFill>
          <a:ln/>
        </p:spPr>
      </p:sp>
      <p:sp>
        <p:nvSpPr>
          <p:cNvPr id="32" name="Text 30"/>
          <p:cNvSpPr/>
          <p:nvPr/>
        </p:nvSpPr>
        <p:spPr>
          <a:xfrm>
            <a:off x="9326880" y="4617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ÚLTIMA SEM. OCT.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16471"/>
            </a:avLst>
          </a:prstGeom>
          <a:solidFill>
            <a:srgbClr val="111827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440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1A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+2.000</a:t>
            </a:r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productos    </a:t>
            </a:r>
            <a:pPr algn="ctr" indent="0" marL="0">
              <a:buNone/>
            </a:pPr>
            <a:r>
              <a:rPr lang="en-US" sz="1600" b="1" dirty="0">
                <a:solidFill>
                  <a:srgbClr val="FF1A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&lt; 10</a:t>
            </a:r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días de entrega en stock    </a:t>
            </a:r>
            <a:pPr algn="ctr" indent="0" marL="0">
              <a:buNone/>
            </a:pPr>
            <a:r>
              <a:rPr lang="en-US" sz="1600" b="1" dirty="0">
                <a:solidFill>
                  <a:srgbClr val="FF1A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</a:t>
            </a:r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producción europea    </a:t>
            </a:r>
            <a:pPr algn="ctr" indent="0" marL="0">
              <a:buNone/>
            </a:pPr>
            <a:r>
              <a:rPr lang="en-US" sz="1600" b="1" dirty="0">
                <a:solidFill>
                  <a:srgbClr val="FF1A3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17</a:t>
            </a:r>
            <a:pPr algn="ctr"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 técnicas de impresión</a:t>
            </a:r>
            <a:endParaRPr lang="en-US" sz="1600" dirty="0"/>
          </a:p>
        </p:txBody>
      </p:sp>
      <p:pic>
        <p:nvPicPr>
          <p:cNvPr id="35" name="Image 0" descr="/tmp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55080"/>
            <a:ext cx="1371600" cy="47091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274552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85800"/>
            <a:ext cx="2194560" cy="7543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60604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DE0021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2606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#GENERAEMOCIONES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48640" y="315468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 kit negro, elegante y con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vuestro logo en cada detalle.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Siguiente paso: nos confirmáis opciones y os enviamos el boceto digital con vuestro logo en 24–48 h.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pedidos@universomerchan.com   ·   universomerchan.com   ·   Madrid, España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2026-09-07T08:26:33Z</dcterms:created>
  <dcterms:modified xsi:type="dcterms:W3CDTF">2026-09-07T08:26:33Z</dcterms:modified>
</cp:coreProperties>
</file>